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A"/>
    <a:srgbClr val="F08080"/>
    <a:srgbClr val="FA7D68"/>
    <a:srgbClr val="AED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4"/>
    <p:restoredTop sz="94610"/>
  </p:normalViewPr>
  <p:slideViewPr>
    <p:cSldViewPr snapToGrid="0" snapToObjects="1">
      <p:cViewPr>
        <p:scale>
          <a:sx n="129" d="100"/>
          <a:sy n="129" d="100"/>
        </p:scale>
        <p:origin x="184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F7C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</c:v>
                </c:pt>
                <c:pt idx="1">
                  <c:v>II</c:v>
                </c:pt>
                <c:pt idx="2">
                  <c:v>IIA</c:v>
                </c:pt>
                <c:pt idx="3">
                  <c:v>III</c:v>
                </c:pt>
                <c:pt idx="4">
                  <c:v>IVA</c:v>
                </c:pt>
                <c:pt idx="5">
                  <c:v>IVB</c:v>
                </c:pt>
                <c:pt idx="6">
                  <c:v>IVC</c:v>
                </c:pt>
                <c:pt idx="7">
                  <c:v>IV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8</c:v>
                </c:pt>
                <c:pt idx="2">
                  <c:v>1</c:v>
                </c:pt>
                <c:pt idx="3">
                  <c:v>10</c:v>
                </c:pt>
                <c:pt idx="4">
                  <c:v>19</c:v>
                </c:pt>
                <c:pt idx="5">
                  <c:v>7</c:v>
                </c:pt>
                <c:pt idx="6">
                  <c:v>10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2-BB44-8D2D-E160F033B5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Number of patients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B-cell %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266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E8-D346-AE0E-A91293F5086F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E8-D346-AE0E-A91293F508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Responders (CR/PR)
n=8</c:v>
                </c:pt>
                <c:pt idx="1">
                  <c:v>Non-responders (SD/PD)
n=52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7.48</c:v>
                </c:pt>
                <c:pt idx="1">
                  <c:v>5.59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E8-D346-AE0E-A91293F508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B-cell abundance (% of PBMCs)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Univariate (AUC=0.728)</c:v>
                </c:pt>
              </c:strCache>
            </c:strRef>
          </c:tx>
          <c:spPr>
            <a:ln w="25400" cap="flat">
              <a:solidFill>
                <a:srgbClr val="3266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266AD"/>
              </a:solidFill>
              <a:ln w="9525" cap="flat">
                <a:solidFill>
                  <a:srgbClr val="3266A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0.125</c:v>
                </c:pt>
                <c:pt idx="2">
                  <c:v>0.125</c:v>
                </c:pt>
                <c:pt idx="3">
                  <c:v>0.25</c:v>
                </c:pt>
                <c:pt idx="4">
                  <c:v>0.25</c:v>
                </c:pt>
                <c:pt idx="5">
                  <c:v>0.375</c:v>
                </c:pt>
                <c:pt idx="6">
                  <c:v>0.375</c:v>
                </c:pt>
                <c:pt idx="7">
                  <c:v>0.5</c:v>
                </c:pt>
                <c:pt idx="8">
                  <c:v>0.5</c:v>
                </c:pt>
                <c:pt idx="9">
                  <c:v>0.75</c:v>
                </c:pt>
                <c:pt idx="10">
                  <c:v>0.75</c:v>
                </c:pt>
                <c:pt idx="11">
                  <c:v>0.875</c:v>
                </c:pt>
                <c:pt idx="12">
                  <c:v>0.875</c:v>
                </c:pt>
                <c:pt idx="13">
                  <c:v>1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D12-BB4E-B6A0-8F50D36E9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X2</c:v>
                </c:pt>
              </c:strCache>
            </c:strRef>
          </c:tx>
          <c:spPr>
            <a:ln w="25400" cap="flat">
              <a:solidFill>
                <a:srgbClr val="3266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266AD"/>
              </a:solidFill>
              <a:ln w="9525" cap="flat">
                <a:solidFill>
                  <a:srgbClr val="3266A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0.1346</c:v>
                </c:pt>
                <c:pt idx="3">
                  <c:v>0.1346</c:v>
                </c:pt>
                <c:pt idx="4">
                  <c:v>0.1923</c:v>
                </c:pt>
                <c:pt idx="5">
                  <c:v>0.1923</c:v>
                </c:pt>
                <c:pt idx="6">
                  <c:v>0.5</c:v>
                </c:pt>
                <c:pt idx="7">
                  <c:v>0.5</c:v>
                </c:pt>
                <c:pt idx="8">
                  <c:v>0.59619999999999995</c:v>
                </c:pt>
                <c:pt idx="9">
                  <c:v>0.59619999999999995</c:v>
                </c:pt>
                <c:pt idx="10">
                  <c:v>0.63460000000000005</c:v>
                </c:pt>
                <c:pt idx="11">
                  <c:v>0.63460000000000005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D12-BB4E-B6A0-8F50D36E99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Adjusted (AUC=0.702)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Sheet1!$D$2:$D$16</c:f>
              <c:numCache>
                <c:formatCode>General</c:formatCode>
                <c:ptCount val="15"/>
                <c:pt idx="0">
                  <c:v>0</c:v>
                </c:pt>
                <c:pt idx="1">
                  <c:v>0.125</c:v>
                </c:pt>
                <c:pt idx="2">
                  <c:v>0.125</c:v>
                </c:pt>
                <c:pt idx="3">
                  <c:v>0.375</c:v>
                </c:pt>
                <c:pt idx="4">
                  <c:v>0.375</c:v>
                </c:pt>
                <c:pt idx="5">
                  <c:v>0.625</c:v>
                </c:pt>
                <c:pt idx="6">
                  <c:v>0.625</c:v>
                </c:pt>
                <c:pt idx="7">
                  <c:v>0.75</c:v>
                </c:pt>
                <c:pt idx="8">
                  <c:v>0.75</c:v>
                </c:pt>
                <c:pt idx="9">
                  <c:v>0.875</c:v>
                </c:pt>
                <c:pt idx="10">
                  <c:v>0.875</c:v>
                </c:pt>
                <c:pt idx="11">
                  <c:v>1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D12-BB4E-B6A0-8F50D36E990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X_rand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Sheet1!$E$2:$E$16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D12-BB4E-B6A0-8F50D36E990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 (AUC=0.500)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D12-BB4E-B6A0-8F50D36E9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1 − Specificity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Sensitivity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C0-114F-AE68-90A3223BEF56}"/>
              </c:ext>
            </c:extLst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C0-114F-AE68-90A3223BEF56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C0-114F-AE68-90A3223BEF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Paper (Fig 4D)</c:v>
                </c:pt>
                <c:pt idx="1">
                  <c:v>Our univariate</c:v>
                </c:pt>
                <c:pt idx="2">
                  <c:v>Our + TNM adj.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0.72799999999999998</c:v>
                </c:pt>
                <c:pt idx="2">
                  <c:v>0.70199999999999996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C0-114F-AE68-90A3223BEF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Grafik 2">
          <a:extLst xmlns:a="http://schemas.openxmlformats.org/drawingml/2006/main">
            <a:ext uri="{FF2B5EF4-FFF2-40B4-BE49-F238E27FC236}">
              <a16:creationId xmlns:a16="http://schemas.microsoft.com/office/drawing/2014/main" id="{9F1DBB19-B524-DE64-1C7E-5F1E1A8E8A5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5980594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Grafik 2">
          <a:extLst xmlns:a="http://schemas.openxmlformats.org/drawingml/2006/main">
            <a:ext uri="{FF2B5EF4-FFF2-40B4-BE49-F238E27FC236}">
              <a16:creationId xmlns:a16="http://schemas.microsoft.com/office/drawing/2014/main" id="{CF052E46-4F68-FA0D-5327-FEE244E2494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5388293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Grafik 2">
          <a:extLst xmlns:a="http://schemas.openxmlformats.org/drawingml/2006/main">
            <a:ext uri="{FF2B5EF4-FFF2-40B4-BE49-F238E27FC236}">
              <a16:creationId xmlns:a16="http://schemas.microsoft.com/office/drawing/2014/main" id="{C10B9DE9-BDDB-9E9E-1A86-DFE7A460D75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5022166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Grafik 2">
          <a:extLst xmlns:a="http://schemas.openxmlformats.org/drawingml/2006/main">
            <a:ext uri="{FF2B5EF4-FFF2-40B4-BE49-F238E27FC236}">
              <a16:creationId xmlns:a16="http://schemas.microsoft.com/office/drawing/2014/main" id="{2D1F8D86-1AAD-6C81-25A0-09180D08299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468575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5" name="Grafik 4">
          <a:extLst xmlns:a="http://schemas.openxmlformats.org/drawingml/2006/main">
            <a:ext uri="{FF2B5EF4-FFF2-40B4-BE49-F238E27FC236}">
              <a16:creationId xmlns:a16="http://schemas.microsoft.com/office/drawing/2014/main" id="{57C5BEC6-D6CB-D883-9417-00FAB83FB5B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468575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7" name="Grafik 6">
          <a:extLst xmlns:a="http://schemas.openxmlformats.org/drawingml/2006/main">
            <a:ext uri="{FF2B5EF4-FFF2-40B4-BE49-F238E27FC236}">
              <a16:creationId xmlns:a16="http://schemas.microsoft.com/office/drawing/2014/main" id="{B4F913B0-8BBA-1CB2-D22B-29C0654AE07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468575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as a Predictor of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Blockade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8A8"/>
                </a:solidFill>
                <a:latin typeface="Calibri" pitchFamily="34" charset="0"/>
                <a:cs typeface="Calibri" pitchFamily="34" charset="-120"/>
              </a:rPr>
              <a:t>Mini-Project: Joana, Marie and Rebecca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1AA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Chang et al. (2025), Annals of Oncology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10.1016/j.annonc.2024.09.014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BME321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HNSCC, ICB mechanisms, B cells in tumour immunity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cohorts, key findings of Chang et al.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scope and approach used in our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28346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417320" y="28346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Results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611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abundance, Firth regression, ROC curves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8346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251960" y="28346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25196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400" y="3611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limitations,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Head &amp; Neck Squamous Cell Carcinoma?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~900,000 new cases/year globally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most common cancer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(oropharynx) 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tobacco/alcohol (oral cavity, larynx)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~50%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 disease: median OS ~10–15 months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Surgery, radiotherapy, platinum-based chemo 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 approved for R/M disease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 = Immune Checkpoint Blockade  ·  R/M = Recurrent/Metastatic. ·  OS = Overall Survival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Blockade — Mechanism of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presents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activated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APCs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70332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70332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PD-1/PD-L1 axis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 cells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4068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Anti-PD-1/PD-L1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suppression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17804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17804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killing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3657600" cy="1371600"/>
          </a:xfrm>
          <a:prstGeom prst="rect">
            <a:avLst/>
          </a:prstGeom>
          <a:solidFill>
            <a:srgbClr val="D6EE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Rates in R/M HNSCC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monotherapy: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~14–18% ORR
</a:t>
            </a: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+ chemo: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ORR (KEYNOTE-048)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3840480" cy="1371600"/>
          </a:xfrm>
          <a:prstGeom prst="rect">
            <a:avLst/>
          </a:prstGeom>
          <a:solidFill>
            <a:srgbClr val="F4B8B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Biomarker Problem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and TMB predict response poorly in HNSCC.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predictive biomarkers are urgently needed to select patients.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 = Head and Neck Squamous Cell Carcinoma  ·  ORR = Overall Response Rate  ·  TMB = Tumour Mutational Burden  ·  APC = Antigen-presenting Cell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in Tumour Immunity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of B cells in anti-tumour immunity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anti-tumour antibodies (ADCC)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antigens to cytotoxic T cells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51176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2523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Tertiary Lymphoid Structures (TLS)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18104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pro-inflammatory cytokines (IFN-γ, TNF-α)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85032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1792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improved ICB response across cancers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4F8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Lymphoid Structures (TLS)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are ectopic lymphoid organs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form within tumours.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require B cells for assembly
and are associated with: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ICB response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Improved overall survival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Enhanced T cell activation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2025 — Study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solidFill>
            <a:srgbClr val="0F7C7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828800" cy="1097280"/>
          </a:xfrm>
          <a:prstGeom prst="rect">
            <a:avLst/>
          </a:prstGeom>
          <a:solidFill>
            <a:srgbClr val="1C2B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828800" cy="1097280"/>
          </a:xfrm>
          <a:prstGeom prst="rect">
            <a:avLst/>
          </a:prstGeom>
          <a:solidFill>
            <a:srgbClr val="0F7C7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828800" cy="1097280"/>
          </a:xfrm>
          <a:prstGeom prst="rect">
            <a:avLst/>
          </a:prstGeom>
          <a:solidFill>
            <a:srgbClr val="1C2B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7665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77240" y="27066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outperforms PD-L1, TMB, T-cell and TLS signatures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77240" y="3182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tumour-infiltrating and blood B cells are predictive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PBMC B-cell threshold identifies non-responders with high accuracy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51376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77240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independent of HPV status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Measurement Approaches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1261872" cy="2743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75488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RNAseq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Deconvolution (Kassandra)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1–10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172200" y="2743200"/>
            <a:ext cx="1261872" cy="2743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17220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B-cell 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(our focus)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8952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7589520" y="2743200"/>
            <a:ext cx="1261872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58952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scRNAseq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4438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validation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— Study Population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Characteristics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Athens, Greece (NCT03652142)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R/M HNSCC patients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2276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2768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(anti-PD-1)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65760" y="2706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7066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PBMC flow cytometry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136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136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RECIST best overall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(CR/PR)  |  Non-responders: 52 (SD/PD)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6576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TNM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patients (excluded from adjusted model)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2911998819"/>
              </p:ext>
            </p:extLst>
          </p:nvPr>
        </p:nvGraphicFramePr>
        <p:xfrm>
          <a:off x="4572000" y="1371600"/>
          <a:ext cx="4206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Analysis — Scope &amp;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reproduced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58368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B-cell abundance from raw flow cytometry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Binarized RECIST response (CR/PR vs SD/PD)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Firth logistic regression (B-cell → response)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AUC of 0.73 reported in Figure 4D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39896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58368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5.5% threshold: zero responders below cutoff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extended (our analysis)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435608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38928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TNM stage as a confounder (not in original paper)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011680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38928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TNM to binary: stage IV vs non-IV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587752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138928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model on n=57 (3 missing TNM excluded)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3163824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138928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AUC: univariate vs adjusted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739896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38928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whether TNM confounds the B-cell effect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" cy="11887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Formula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99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B-cells / (Lymphocytes + Monocytes) ×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% of PBMCs (Lymphogram kit)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" cy="11887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Firth Penalized Regression?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7249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logistic regression fails with complete separation: all 8 responders had B-cell abundance &gt;5.5%.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Firth's method adds a penalization term to stabilize estimates.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Univariate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05079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best_response ~ B_cell_abundance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penalized logistic regression (n=60)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Adjusted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399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best_response ~ B_cell_abundance + TNM_IV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IV vs non-IV; n=57 (3 missing TNM)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11480" cy="11887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0" y="228600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7249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from ROC curve (same as original paper)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DeLong's test used for AUC comparison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405079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by Response Group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93224610"/>
              </p:ext>
            </p:extLst>
          </p:nvPr>
        </p:nvGraphicFramePr>
        <p:xfrm>
          <a:off x="457200" y="91440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2877656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Statistics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1371600"/>
            <a:ext cx="3108960" cy="4572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760720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93992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27264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56232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760720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93992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27264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340864"/>
            <a:ext cx="3108960" cy="457200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760720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93992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7.48%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27264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825496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1"/>
          <p:cNvSpPr/>
          <p:nvPr/>
        </p:nvSpPr>
        <p:spPr>
          <a:xfrm>
            <a:off x="5760720" y="3310128"/>
            <a:ext cx="3108960" cy="457200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5760720" y="2852781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93992" y="285263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5.81–22.28%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27264" y="285263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1.66–21.84%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60720" y="33402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≤5.5%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93992" y="332249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27264" y="33348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(50%)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threshold from paper (Figure 4D): zero responders fall below this cutoff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Model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04894876"/>
              </p:ext>
            </p:extLst>
          </p:nvPr>
        </p:nvGraphicFramePr>
        <p:xfrm>
          <a:off x="457200" y="91440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365760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274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Univariate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11567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0" y="116918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26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52160" y="1471397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reports: 0.730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06440" y="1627425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(B-cell %): 1.113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0.979 – 1.264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408534"/>
            <a:ext cx="3108960" cy="268186"/>
          </a:xfrm>
          <a:prstGeom prst="rect">
            <a:avLst/>
          </a:prstGeom>
          <a:solidFill>
            <a:srgbClr val="FA7D6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5760720" y="2460109"/>
            <a:ext cx="3108960" cy="268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+ TNM Stage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2620411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2685705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06440" y="291568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(B-cell %): 1.105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0.973 – 1.255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(TNM-IV): 0.648, p = 0.565</a:t>
            </a:r>
            <a:endParaRPr lang="en-US" sz="10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B13D1A81-B748-DCD7-0E39-5E8C6AE3156D}"/>
              </a:ext>
            </a:extLst>
          </p:cNvPr>
          <p:cNvSpPr/>
          <p:nvPr/>
        </p:nvSpPr>
        <p:spPr>
          <a:xfrm>
            <a:off x="5760720" y="3830191"/>
            <a:ext cx="3108960" cy="2681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5230DF4-4AFC-5B5D-C57A-D0298A592D07}"/>
              </a:ext>
            </a:extLst>
          </p:cNvPr>
          <p:cNvSpPr/>
          <p:nvPr/>
        </p:nvSpPr>
        <p:spPr>
          <a:xfrm>
            <a:off x="5852160" y="3866513"/>
            <a:ext cx="3108960" cy="268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Univariate with T-Cell Abundance</a:t>
            </a:r>
            <a:endParaRPr lang="en-US" sz="11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BFB1026-9FA2-E7A8-3A57-1F1A5F2141A8}"/>
              </a:ext>
            </a:extLst>
          </p:cNvPr>
          <p:cNvSpPr/>
          <p:nvPr/>
        </p:nvSpPr>
        <p:spPr>
          <a:xfrm>
            <a:off x="5852160" y="40762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336DAAAC-3507-5787-5685-60E92C29D790}"/>
              </a:ext>
            </a:extLst>
          </p:cNvPr>
          <p:cNvSpPr/>
          <p:nvPr/>
        </p:nvSpPr>
        <p:spPr>
          <a:xfrm>
            <a:off x="7234702" y="40942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0.577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Result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96003135"/>
              </p:ext>
            </p:extLst>
          </p:nvPr>
        </p:nvGraphicFramePr>
        <p:xfrm>
          <a:off x="45720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645920"/>
          </a:xfrm>
          <a:prstGeom prst="rect">
            <a:avLst/>
          </a:prstGeom>
          <a:solidFill>
            <a:srgbClr val="AED9E6">
              <a:alpha val="20000"/>
            </a:srgbClr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solidFill>
            <a:srgbClr val="AED9E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371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AUC (0.728) vs paper AUC (0.730)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−0.002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rounding of reported value.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2651760"/>
            <a:ext cx="3108960" cy="1737360"/>
          </a:xfrm>
          <a:prstGeom prst="rect">
            <a:avLst/>
          </a:prstGeom>
          <a:solidFill>
            <a:srgbClr val="F08080">
              <a:alpha val="20000"/>
            </a:srgbClr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760720" y="2651760"/>
            <a:ext cx="3108960" cy="365760"/>
          </a:xfrm>
          <a:prstGeom prst="rect">
            <a:avLst/>
          </a:prstGeom>
          <a:solidFill>
            <a:srgbClr val="F080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57607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Findings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1089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significant confounder (p=0.565). Adding it reduces AUC by 0.026. B-cell effect direction maintained.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threshold: verified — 0 responders fell below this cutoff in Cohort 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Original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Cohort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3990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responders out of 60 patients. Severely underpowered for multivariate analysis. All results should be considered exploratory.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Multivariate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7249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adjust for TNM stage, performance status, or prior therapy in the ICB response analysis. Confounding cannot be excluded.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Separation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0507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ratio for the 5.5% threshold is reported as 'infinity' — a statistical artifact indicating near-perfect separation, not a reliable clinical estimate.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109728" cy="11887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956048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3990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cutoff was derived from Cohort 7 (a different setting) and applied to Cohort 11. No internal validation was performed.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109728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56048" y="2377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Cohorts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7249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cohorts with varying assay platforms, treatment lines, and HNSCC subsites are pooled. Batch effects and biological heterogeneity are not fully addressed.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109728" cy="11887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56048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40507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cohorts are retrospective or post-hoc analyses. Prospective validation of the 5.5% threshold is required before clinical use.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Challenges Encountered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228600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92608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9184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109728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63640" y="960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640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960120" y="1417320"/>
            <a:ext cx="228600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926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10972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74320" y="1417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14173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not pre-computed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4173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raw counts: B / (Lymph + Mono) × 100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075688"/>
            <a:ext cx="640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60120" y="2075688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291840" y="2075688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63640" y="2075688"/>
            <a:ext cx="1097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74320" y="20756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0756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logistic regression fails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207568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penalized regression required due to complete separation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109728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263640" y="2231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34056"/>
            <a:ext cx="640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60120" y="2734056"/>
            <a:ext cx="228600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3291840" y="2734056"/>
            <a:ext cx="2926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263640" y="2734056"/>
            <a:ext cx="10972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274320" y="27340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27340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adjustment not in original paper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37560" y="273405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extension analysis, not direct replication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889504"/>
            <a:ext cx="1097280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26364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392424"/>
            <a:ext cx="640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960120" y="3392424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3291840" y="3392424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6263640" y="3392424"/>
            <a:ext cx="1097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274320" y="33924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" y="339242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 responders — very low power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37560" y="339242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interpreted as exploratory; wide CIs expected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3547872"/>
            <a:ext cx="109728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626364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Biomarker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flow cytometry is routinely performed in clinical settings. A blood-based B-cell test would be accessible without tumour biopsy.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Decision 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cutoff is binary and easy to apply. All non-responders in Cohort 11 who fell below it could theoretically be spared ineffective treatment.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Existing Markers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outperformed PD-L1, TMB, and T-cell signatures — the most commonly used clinical biomarkers — in this dataset.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Warranted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based on n=8 responders. Prospective validation in larger cohorts is essential before any clinical adoption.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4F8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reproduction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result (AUC 0.73 for PBMC B-cell abundance) reproduced faithfully. This supports the analytic integrity of the original study and confirms our understanding of the B-cell abundance formula.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confounder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TNM stage as a covariate did not materially change the B-cell coefficient, and the AUC slightly decreased (0.728 → 0.702). This suggests B-cell abundance captures independent prognostic information.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F5F9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29580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is plausible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between B cells and ICB response has prior support from TLS biology and multi-cancer studies. The mechanistic rationale is strong even if the clinical evidence from Cohort 11 alone is limited.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in PBMCs predicts ICB response in HNSCC — a clinically accessible, non-invasive biomarker.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8470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finding (AUC 0.73) was successfully reproduced using independently implemented Firth penalized logistic regression.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59689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significant confounder in Cohort 11. B-cell abundance captures independent predictive information.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34670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challenges (complete separation, n=8 responders) require careful methodology and cautious interpretation.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09651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PBMC B-cell threshold is a promising but not yet clinically validated decision tool — prospective trials are needed.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(2025). Tumor and blood B-cell abundance outperforms established immune checkpoint blockade response prediction signatures in head and neck cancer. Annals of Oncology. DOI: 10.1016/j.annonc.2024.09.014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527048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Burtness et al. (2019). Pembrolizumab alone or with chemotherapy versus cetuximab with chemotherapy for recurrent or metastatic squamous cell carcinoma of the head and neck (KEYNOTE-048). Lancet, 394(10212), 1915–1928.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93976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Cabrita et al. (2020). Tertiary lymphoid structures improve immunotherapy and survival in melanoma. Nature, 577, 561–565.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57200" y="26609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Helmink et al. (2020). B cells and tertiary lymphoid structures promote immunotherapy response. Nature, 577, 549–555.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27832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(1993). Bias reduction of maximum likelihood estimates. Biometrika, 80(1), 27–38. [Firth regression method]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DeLong et al. (1988). Comparing the areas under two or more correlated receiver operating characteristic curves. Biometrics, 44(3), 837–845.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361688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43616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code: Zenodo DOI 10.5281/zenodo.14181890  ·  GitHub: github.com/rootchang/HNSCC_Bcells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1AA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Zenodo 10.5281/zenodo.14181890  ·  Code: github.com/rootchang/HNSCC_Bcells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(2025), Annals of Oncology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84048" y="131673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4048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078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4447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prospective trial with pre-specified B-cell threshold and sufficient power (n&gt;100 responders) is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84048" y="26151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84048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modelling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ECOG PS, prior lines of therapy, HPV status, and tumour site in a larger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84048" y="391363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84048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PD-L1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B-cell abundance adds predictive value on top of PD-L1 CPS in a prospective cohort.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864608" y="131673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64608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1078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monitoring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14447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B-cell dynamics (on-treatment changes) correlate with response better than pre-treatment levels.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864608" y="26151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64608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studies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relationship between blood B cells, tumour-infiltrating B cells, and TLS formation in HNSCC.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864608" y="391363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864608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assay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standardised flow cytometry panel for clinical B-cell % measurement would facilitate multi-centre studies.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1906</Words>
  <Application>Microsoft Macintosh PowerPoint</Application>
  <PresentationFormat>Bildschirmpräsentation (16:9)</PresentationFormat>
  <Paragraphs>312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B-cell Abundance as ICB Response Predictor in HNSCC</dc:title>
  <dc:subject>PptxGenJS Presentation</dc:subject>
  <dc:creator>PptxGenJS</dc:creator>
  <cp:lastModifiedBy>Marie Wyrsch</cp:lastModifiedBy>
  <cp:revision>3</cp:revision>
  <dcterms:created xsi:type="dcterms:W3CDTF">2026-05-02T06:15:09Z</dcterms:created>
  <dcterms:modified xsi:type="dcterms:W3CDTF">2026-05-04T18:30:59Z</dcterms:modified>
</cp:coreProperties>
</file>