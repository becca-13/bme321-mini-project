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drawings/drawing1.xml" ContentType="application/vnd.openxmlformats-officedocument.drawingml.chartshapes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7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1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-Arbeitsblat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0F7C7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I</c:v>
                </c:pt>
                <c:pt idx="1">
                  <c:v>II</c:v>
                </c:pt>
                <c:pt idx="2">
                  <c:v>IIA</c:v>
                </c:pt>
                <c:pt idx="3">
                  <c:v>III</c:v>
                </c:pt>
                <c:pt idx="4">
                  <c:v>IVA</c:v>
                </c:pt>
                <c:pt idx="5">
                  <c:v>IVB</c:v>
                </c:pt>
                <c:pt idx="6">
                  <c:v>IVC</c:v>
                </c:pt>
                <c:pt idx="7">
                  <c:v>IV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8</c:v>
                </c:pt>
                <c:pt idx="2">
                  <c:v>1</c:v>
                </c:pt>
                <c:pt idx="3">
                  <c:v>10</c:v>
                </c:pt>
                <c:pt idx="4">
                  <c:v>19</c:v>
                </c:pt>
                <c:pt idx="5">
                  <c:v>7</c:v>
                </c:pt>
                <c:pt idx="6">
                  <c:v>10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E2-BB44-8D2D-E160F033B5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de-CH" b="0" i="0" u="none" strike="noStrike">
                    <a:solidFill>
                      <a:srgbClr val="000000"/>
                    </a:solidFill>
                    <a:latin typeface="Arial"/>
                  </a:rPr>
                  <a:t>Number of patients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8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B-cell %</c:v>
                </c:pt>
              </c:strCache>
            </c:strRef>
          </c:tx>
          <c:spPr>
            <a:solidFill>
              <a:srgbClr val="3266A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266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DE8-D346-AE0E-A91293F5086F}"/>
              </c:ext>
            </c:extLst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DE8-D346-AE0E-A91293F5086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Responders (CR/PR)
n=8</c:v>
                </c:pt>
                <c:pt idx="1">
                  <c:v>Non-responders (SD/PD)
n=52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7.48</c:v>
                </c:pt>
                <c:pt idx="1">
                  <c:v>5.59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DE8-D346-AE0E-A91293F508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de-CH" b="0" i="0" u="none" strike="noStrike">
                    <a:solidFill>
                      <a:srgbClr val="000000"/>
                    </a:solidFill>
                    <a:latin typeface="Arial"/>
                  </a:rPr>
                  <a:t>B-cell abundance (% of PBMCs)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8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Univariate (AUC=0.728)</c:v>
                </c:pt>
              </c:strCache>
            </c:strRef>
          </c:tx>
          <c:spPr>
            <a:ln w="25400" cap="flat">
              <a:solidFill>
                <a:srgbClr val="3266A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266AD"/>
              </a:solidFill>
              <a:ln w="9525" cap="flat">
                <a:solidFill>
                  <a:srgbClr val="3266AD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7.6899999999999996E-2</c:v>
                </c:pt>
                <c:pt idx="3">
                  <c:v>7.6899999999999996E-2</c:v>
                </c:pt>
                <c:pt idx="4">
                  <c:v>0.21149999999999999</c:v>
                </c:pt>
                <c:pt idx="5">
                  <c:v>0.21149999999999999</c:v>
                </c:pt>
                <c:pt idx="6">
                  <c:v>0.32690000000000002</c:v>
                </c:pt>
                <c:pt idx="7">
                  <c:v>0.32690000000000002</c:v>
                </c:pt>
                <c:pt idx="8">
                  <c:v>0.34620000000000001</c:v>
                </c:pt>
                <c:pt idx="9">
                  <c:v>0.34620000000000001</c:v>
                </c:pt>
                <c:pt idx="10">
                  <c:v>0.40379999999999999</c:v>
                </c:pt>
                <c:pt idx="11">
                  <c:v>0.40379999999999999</c:v>
                </c:pt>
                <c:pt idx="12">
                  <c:v>0.46150000000000002</c:v>
                </c:pt>
                <c:pt idx="13">
                  <c:v>0.46150000000000002</c:v>
                </c:pt>
                <c:pt idx="14">
                  <c:v>1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0">
                  <c:v>0</c:v>
                </c:pt>
                <c:pt idx="1">
                  <c:v>0.125</c:v>
                </c:pt>
                <c:pt idx="2">
                  <c:v>0.125</c:v>
                </c:pt>
                <c:pt idx="3">
                  <c:v>0.25</c:v>
                </c:pt>
                <c:pt idx="4">
                  <c:v>0.25</c:v>
                </c:pt>
                <c:pt idx="5">
                  <c:v>0.375</c:v>
                </c:pt>
                <c:pt idx="6">
                  <c:v>0.375</c:v>
                </c:pt>
                <c:pt idx="7">
                  <c:v>0.5</c:v>
                </c:pt>
                <c:pt idx="8">
                  <c:v>0.5</c:v>
                </c:pt>
                <c:pt idx="9">
                  <c:v>0.75</c:v>
                </c:pt>
                <c:pt idx="10">
                  <c:v>0.75</c:v>
                </c:pt>
                <c:pt idx="11">
                  <c:v>0.875</c:v>
                </c:pt>
                <c:pt idx="12">
                  <c:v>0.875</c:v>
                </c:pt>
                <c:pt idx="13">
                  <c:v>1</c:v>
                </c:pt>
                <c:pt idx="14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D12-BB4E-B6A0-8F50D36E99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X2</c:v>
                </c:pt>
              </c:strCache>
            </c:strRef>
          </c:tx>
          <c:spPr>
            <a:ln w="25400" cap="flat">
              <a:solidFill>
                <a:srgbClr val="3266A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266AD"/>
              </a:solidFill>
              <a:ln w="9525" cap="flat">
                <a:solidFill>
                  <a:srgbClr val="3266AD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7.6899999999999996E-2</c:v>
                </c:pt>
                <c:pt idx="3">
                  <c:v>7.6899999999999996E-2</c:v>
                </c:pt>
                <c:pt idx="4">
                  <c:v>0.21149999999999999</c:v>
                </c:pt>
                <c:pt idx="5">
                  <c:v>0.21149999999999999</c:v>
                </c:pt>
                <c:pt idx="6">
                  <c:v>0.32690000000000002</c:v>
                </c:pt>
                <c:pt idx="7">
                  <c:v>0.32690000000000002</c:v>
                </c:pt>
                <c:pt idx="8">
                  <c:v>0.34620000000000001</c:v>
                </c:pt>
                <c:pt idx="9">
                  <c:v>0.34620000000000001</c:v>
                </c:pt>
                <c:pt idx="10">
                  <c:v>0.40379999999999999</c:v>
                </c:pt>
                <c:pt idx="11">
                  <c:v>0.40379999999999999</c:v>
                </c:pt>
                <c:pt idx="12">
                  <c:v>0.46150000000000002</c:v>
                </c:pt>
                <c:pt idx="13">
                  <c:v>0.46150000000000002</c:v>
                </c:pt>
                <c:pt idx="14">
                  <c:v>1</c:v>
                </c:pt>
              </c:numCache>
            </c:numRef>
          </c:xVal>
          <c:yVal>
            <c:numRef>
              <c:f>Sheet1!$C$2:$C$16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0.1346</c:v>
                </c:pt>
                <c:pt idx="3">
                  <c:v>0.1346</c:v>
                </c:pt>
                <c:pt idx="4">
                  <c:v>0.1923</c:v>
                </c:pt>
                <c:pt idx="5">
                  <c:v>0.1923</c:v>
                </c:pt>
                <c:pt idx="6">
                  <c:v>0.5</c:v>
                </c:pt>
                <c:pt idx="7">
                  <c:v>0.5</c:v>
                </c:pt>
                <c:pt idx="8">
                  <c:v>0.59619999999999995</c:v>
                </c:pt>
                <c:pt idx="9">
                  <c:v>0.59619999999999995</c:v>
                </c:pt>
                <c:pt idx="10">
                  <c:v>0.63460000000000005</c:v>
                </c:pt>
                <c:pt idx="11">
                  <c:v>0.63460000000000005</c:v>
                </c:pt>
                <c:pt idx="12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D12-BB4E-B6A0-8F50D36E990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Adjusted (AUC=0.702)</c:v>
                </c:pt>
              </c:strCache>
            </c:strRef>
          </c:tx>
          <c:spPr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7.6899999999999996E-2</c:v>
                </c:pt>
                <c:pt idx="3">
                  <c:v>7.6899999999999996E-2</c:v>
                </c:pt>
                <c:pt idx="4">
                  <c:v>0.21149999999999999</c:v>
                </c:pt>
                <c:pt idx="5">
                  <c:v>0.21149999999999999</c:v>
                </c:pt>
                <c:pt idx="6">
                  <c:v>0.32690000000000002</c:v>
                </c:pt>
                <c:pt idx="7">
                  <c:v>0.32690000000000002</c:v>
                </c:pt>
                <c:pt idx="8">
                  <c:v>0.34620000000000001</c:v>
                </c:pt>
                <c:pt idx="9">
                  <c:v>0.34620000000000001</c:v>
                </c:pt>
                <c:pt idx="10">
                  <c:v>0.40379999999999999</c:v>
                </c:pt>
                <c:pt idx="11">
                  <c:v>0.40379999999999999</c:v>
                </c:pt>
                <c:pt idx="12">
                  <c:v>0.46150000000000002</c:v>
                </c:pt>
                <c:pt idx="13">
                  <c:v>0.46150000000000002</c:v>
                </c:pt>
                <c:pt idx="14">
                  <c:v>1</c:v>
                </c:pt>
              </c:numCache>
            </c:numRef>
          </c:xVal>
          <c:yVal>
            <c:numRef>
              <c:f>Sheet1!$D$2:$D$16</c:f>
              <c:numCache>
                <c:formatCode>General</c:formatCode>
                <c:ptCount val="15"/>
                <c:pt idx="0">
                  <c:v>0</c:v>
                </c:pt>
                <c:pt idx="1">
                  <c:v>0.125</c:v>
                </c:pt>
                <c:pt idx="2">
                  <c:v>0.125</c:v>
                </c:pt>
                <c:pt idx="3">
                  <c:v>0.375</c:v>
                </c:pt>
                <c:pt idx="4">
                  <c:v>0.375</c:v>
                </c:pt>
                <c:pt idx="5">
                  <c:v>0.625</c:v>
                </c:pt>
                <c:pt idx="6">
                  <c:v>0.625</c:v>
                </c:pt>
                <c:pt idx="7">
                  <c:v>0.75</c:v>
                </c:pt>
                <c:pt idx="8">
                  <c:v>0.75</c:v>
                </c:pt>
                <c:pt idx="9">
                  <c:v>0.875</c:v>
                </c:pt>
                <c:pt idx="10">
                  <c:v>0.875</c:v>
                </c:pt>
                <c:pt idx="11">
                  <c:v>1</c:v>
                </c:pt>
                <c:pt idx="12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5D12-BB4E-B6A0-8F50D36E990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X_rand</c:v>
                </c:pt>
              </c:strCache>
            </c:strRef>
          </c:tx>
          <c:spPr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7.6899999999999996E-2</c:v>
                </c:pt>
                <c:pt idx="3">
                  <c:v>7.6899999999999996E-2</c:v>
                </c:pt>
                <c:pt idx="4">
                  <c:v>0.21149999999999999</c:v>
                </c:pt>
                <c:pt idx="5">
                  <c:v>0.21149999999999999</c:v>
                </c:pt>
                <c:pt idx="6">
                  <c:v>0.32690000000000002</c:v>
                </c:pt>
                <c:pt idx="7">
                  <c:v>0.32690000000000002</c:v>
                </c:pt>
                <c:pt idx="8">
                  <c:v>0.34620000000000001</c:v>
                </c:pt>
                <c:pt idx="9">
                  <c:v>0.34620000000000001</c:v>
                </c:pt>
                <c:pt idx="10">
                  <c:v>0.40379999999999999</c:v>
                </c:pt>
                <c:pt idx="11">
                  <c:v>0.40379999999999999</c:v>
                </c:pt>
                <c:pt idx="12">
                  <c:v>0.46150000000000002</c:v>
                </c:pt>
                <c:pt idx="13">
                  <c:v>0.46150000000000002</c:v>
                </c:pt>
                <c:pt idx="14">
                  <c:v>1</c:v>
                </c:pt>
              </c:numCache>
            </c:numRef>
          </c:xVal>
          <c:yVal>
            <c:numRef>
              <c:f>Sheet1!$E$2:$E$16</c:f>
              <c:numCache>
                <c:formatCode>General</c:formatCode>
                <c:ptCount val="15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5D12-BB4E-B6A0-8F50D36E990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Random (AUC=0.500)</c:v>
                </c:pt>
              </c:strCache>
            </c:strRef>
          </c:tx>
          <c:spPr>
            <a:ln w="25400" cap="flat">
              <a:solidFill>
                <a:srgbClr val="AAAAA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AAAAA"/>
              </a:solidFill>
              <a:ln w="9525" cap="flat">
                <a:solidFill>
                  <a:srgbClr val="AAAAAA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7.6899999999999996E-2</c:v>
                </c:pt>
                <c:pt idx="3">
                  <c:v>7.6899999999999996E-2</c:v>
                </c:pt>
                <c:pt idx="4">
                  <c:v>0.21149999999999999</c:v>
                </c:pt>
                <c:pt idx="5">
                  <c:v>0.21149999999999999</c:v>
                </c:pt>
                <c:pt idx="6">
                  <c:v>0.32690000000000002</c:v>
                </c:pt>
                <c:pt idx="7">
                  <c:v>0.32690000000000002</c:v>
                </c:pt>
                <c:pt idx="8">
                  <c:v>0.34620000000000001</c:v>
                </c:pt>
                <c:pt idx="9">
                  <c:v>0.34620000000000001</c:v>
                </c:pt>
                <c:pt idx="10">
                  <c:v>0.40379999999999999</c:v>
                </c:pt>
                <c:pt idx="11">
                  <c:v>0.40379999999999999</c:v>
                </c:pt>
                <c:pt idx="12">
                  <c:v>0.46150000000000002</c:v>
                </c:pt>
                <c:pt idx="13">
                  <c:v>0.46150000000000002</c:v>
                </c:pt>
                <c:pt idx="14">
                  <c:v>1</c:v>
                </c:pt>
              </c:numCache>
            </c:numRef>
          </c:xVal>
          <c:yVal>
            <c:numRef>
              <c:f>Sheet1!$F$2:$F$16</c:f>
              <c:numCache>
                <c:formatCode>General</c:formatCode>
                <c:ptCount val="15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5D12-BB4E-B6A0-8F50D36E99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de-CH" b="0" i="0" u="none" strike="noStrike">
                    <a:solidFill>
                      <a:srgbClr val="000000"/>
                    </a:solidFill>
                    <a:latin typeface="Arial"/>
                  </a:rPr>
                  <a:t>1 − Specificity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de-CH" b="0" i="0" u="none" strike="noStrike">
                    <a:solidFill>
                      <a:srgbClr val="000000"/>
                    </a:solidFill>
                    <a:latin typeface="Arial"/>
                  </a:rPr>
                  <a:t>Sensitivity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4F8F9"/>
    </a:solidFill>
    <a:ln>
      <a:noFill/>
    </a:ln>
    <a:effectLst/>
  </c:sp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7C0-114F-AE68-90A3223BEF56}"/>
              </c:ext>
            </c:extLst>
          </c:dPt>
          <c:dPt>
            <c:idx val="1"/>
            <c:invertIfNegative val="0"/>
            <c:bubble3D val="0"/>
            <c:spPr>
              <a:solidFill>
                <a:srgbClr val="1A7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7C0-114F-AE68-90A3223BEF56}"/>
              </c:ext>
            </c:extLst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7C0-114F-AE68-90A3223BEF5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Paper (Fig 4D)</c:v>
                </c:pt>
                <c:pt idx="1">
                  <c:v>Our univariate</c:v>
                </c:pt>
                <c:pt idx="2">
                  <c:v>Our + TNM adj.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0.73</c:v>
                </c:pt>
                <c:pt idx="1">
                  <c:v>0.72799999999999998</c:v>
                </c:pt>
                <c:pt idx="2">
                  <c:v>0.70199999999999996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7C0-114F-AE68-90A3223BEF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5"/>
          <c:min val="0.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de-CH" b="0" i="0" u="none" strike="noStrike">
                    <a:solidFill>
                      <a:srgbClr val="000000"/>
                    </a:solidFill>
                    <a:latin typeface="Arial"/>
                  </a:rPr>
                  <a:t>AUC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8F9"/>
    </a:solidFill>
    <a:ln>
      <a:noFill/>
    </a:ln>
    <a:effectLst/>
  </c:spPr>
  <c:externalData r:id="rId1">
    <c:autoUpdate val="0"/>
  </c:externalData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Grafik 2">
          <a:extLst xmlns:a="http://schemas.openxmlformats.org/drawingml/2006/main">
            <a:ext uri="{FF2B5EF4-FFF2-40B4-BE49-F238E27FC236}">
              <a16:creationId xmlns:a16="http://schemas.microsoft.com/office/drawing/2014/main" id="{C10B9DE9-BDDB-9E9E-1A86-DFE7A460D75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7772400" cy="5022166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3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B-cell Abundance as a Predictor of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Checkpoint Blockade Response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A8A8"/>
                </a:solidFill>
                <a:latin typeface="Calibri" pitchFamily="34" charset="0"/>
                <a:cs typeface="Calibri" pitchFamily="34" charset="-120"/>
              </a:rPr>
              <a:t>Mini-Project: Joana, Marie and Rebecca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2286000" cy="36576"/>
          </a:xfrm>
          <a:prstGeom prst="rect">
            <a:avLst/>
          </a:prstGeom>
          <a:solidFill>
            <a:srgbClr val="1AA8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Chang et al. (2025), Annals of Oncology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10.1016/j.annonc.2024.09.014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BME321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2004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Background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HNSCC, ICB mechanisms, B cells in tumour immunity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560320" cy="32004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29184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783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cohorts, key findings of Chang et al. 2025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560320" cy="32004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12648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783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Methods, scope and approach used in our analysis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417320" y="283464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1417320" y="2834640"/>
            <a:ext cx="2560320" cy="32004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417320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0876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11 Results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36118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B-cell abundance, Firth regression, ROC curves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51960" y="283464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4251960" y="2834640"/>
            <a:ext cx="2560320" cy="32004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251960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4340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Conclusions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43400" y="36118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Reproducibility, limitations, implications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Head &amp; Neck Squamous Cell Carcinoma?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3108960"/>
          </a:xfrm>
          <a:prstGeom prst="rect">
            <a:avLst/>
          </a:prstGeom>
          <a:solidFill>
            <a:srgbClr val="F4F8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36576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~900,000 new cases/year globally</a:t>
            </a:r>
          </a:p>
          <a:p>
            <a:pPr marL="0" indent="0">
              <a:buNone/>
            </a:pPr>
            <a:endParaRPr lang="en-US" sz="1100" dirty="0">
              <a:solidFill>
                <a:srgbClr val="334155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6th most common cancer worldwide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005840"/>
            <a:ext cx="2011680" cy="3108960"/>
          </a:xfrm>
          <a:prstGeom prst="rect">
            <a:avLst/>
          </a:prstGeom>
          <a:solidFill>
            <a:srgbClr val="F4F8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2450592" y="1005840"/>
            <a:ext cx="2011680" cy="365760"/>
          </a:xfrm>
          <a:prstGeom prst="rect">
            <a:avLst/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2450592" y="1005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42032" y="146304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HPV (oropharynx) </a:t>
            </a:r>
          </a:p>
          <a:p>
            <a:pPr marL="0" indent="0">
              <a:buNone/>
            </a:pPr>
            <a:endParaRPr lang="en-US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tobacco/alcohol (oral cavity, larynx)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005840"/>
            <a:ext cx="2011680" cy="3108960"/>
          </a:xfrm>
          <a:prstGeom prst="rect">
            <a:avLst/>
          </a:prstGeom>
          <a:solidFill>
            <a:srgbClr val="F4F8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4626864" y="1005840"/>
            <a:ext cx="201168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626864" y="1005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18304" y="146304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survival ~50%</a:t>
            </a:r>
            <a:endParaRPr lang="en-US" sz="1100" dirty="0"/>
          </a:p>
          <a:p>
            <a:pPr marL="0" indent="0">
              <a:buNone/>
            </a:pPr>
            <a:endParaRPr lang="en-US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R/M disease: median OS ~10–15 months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03136" y="1005840"/>
            <a:ext cx="2011680" cy="3108960"/>
          </a:xfrm>
          <a:prstGeom prst="rect">
            <a:avLst/>
          </a:prstGeom>
          <a:solidFill>
            <a:srgbClr val="F4F8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6803136" y="1005840"/>
            <a:ext cx="2011680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803136" y="1005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94576" y="146304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Surgery, radiotherapy, platinum-based chemo </a:t>
            </a:r>
          </a:p>
          <a:p>
            <a:pPr marL="0" indent="0">
              <a:buNone/>
            </a:pPr>
            <a:endParaRPr lang="en-US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ICB approved for R/M disease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ICB = Immune Checkpoint Blockade  ·  R/M = Recurrent/Metastatic. ·  OS = Overall Survival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Checkpoint Blockade — Mechanism of Action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1508760" cy="1005840"/>
          </a:xfrm>
          <a:prstGeom prst="roundRect">
            <a:avLst>
              <a:gd name="adj" fmla="val 6364"/>
            </a:avLst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228600" y="118872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 presents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neoantigens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37360" y="169164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1965960" y="1188720"/>
            <a:ext cx="1508760" cy="1005840"/>
          </a:xfrm>
          <a:prstGeom prst="roundRect">
            <a:avLst>
              <a:gd name="adj" fmla="val 6364"/>
            </a:avLst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965960" y="118872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cells activated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APCs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69164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703320" y="1188720"/>
            <a:ext cx="1508760" cy="1005840"/>
          </a:xfrm>
          <a:prstGeom prst="roundRect">
            <a:avLst>
              <a:gd name="adj" fmla="val 6364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703320" y="118872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PD-1/PD-L1 axis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suppresses T cells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0" y="169164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5440680" y="1188720"/>
            <a:ext cx="1508760" cy="1005840"/>
          </a:xfrm>
          <a:prstGeom prst="roundRect">
            <a:avLst>
              <a:gd name="adj" fmla="val 6364"/>
            </a:avLst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440680" y="118872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Anti-PD-1/PD-L1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suppression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49440" y="169164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7178040" y="1188720"/>
            <a:ext cx="1508760" cy="1005840"/>
          </a:xfrm>
          <a:prstGeom prst="roundRect">
            <a:avLst>
              <a:gd name="adj" fmla="val 6364"/>
            </a:avLst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7178040" y="118872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cell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 killing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3657600" cy="1371600"/>
          </a:xfrm>
          <a:prstGeom prst="rect">
            <a:avLst/>
          </a:prstGeom>
          <a:solidFill>
            <a:srgbClr val="D6EEF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4864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Rates in R/M HNSCC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9718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Anti-PD-1 monotherapy: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~14–18% ORR
</a:t>
            </a: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Pembrolizumab + chemo: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~37% ORR (KEYNOTE-048)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2514600"/>
            <a:ext cx="3840480" cy="1371600"/>
          </a:xfrm>
          <a:prstGeom prst="rect">
            <a:avLst/>
          </a:prstGeom>
          <a:solidFill>
            <a:srgbClr val="F4B8B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93776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Biomarker Problem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29718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and TMB predict response poorly in HNSCC.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predictive biomarkers are urgently needed to select patients.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HNSCC = Head and Neck Squamous Cell Carcinoma  ·  ORR = Overall Response Rate  ·  TMB = Tumour Mutational Burden  ·  APC = Antigen-presenting Cell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Cells in Tumour Immunity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of B cells in anti-tumour immunity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64592" cy="164592"/>
          </a:xfrm>
          <a:prstGeom prst="ellipse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21792" y="13898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anti-tumour antibodies (ADCC)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84248"/>
            <a:ext cx="164592" cy="164592"/>
          </a:xfrm>
          <a:prstGeom prst="ellipse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21792" y="1956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antigens to cytotoxic T cells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51176"/>
            <a:ext cx="164592" cy="164592"/>
          </a:xfrm>
          <a:prstGeom prst="ellipse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21792" y="25237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Tertiary Lymphoid Structures (TLS)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118104"/>
            <a:ext cx="164592" cy="164592"/>
          </a:xfrm>
          <a:prstGeom prst="ellipse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21792" y="30906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Secrete pro-inflammatory cytokines (IFN-γ, TNF-α)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685032"/>
            <a:ext cx="164592" cy="164592"/>
          </a:xfrm>
          <a:prstGeom prst="ellipse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21792" y="3657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with improved ICB response across cancers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4023360" cy="3657600"/>
          </a:xfrm>
          <a:prstGeom prst="rect">
            <a:avLst/>
          </a:prstGeom>
          <a:solidFill>
            <a:srgbClr val="F4F8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4023360" cy="3657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754880" y="914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Lymphoid Structures (TLS)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137160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are ectopic lymphoid organs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form within tumours.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require B cells for assembly
and are associated with: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Better ICB response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Improved overall survival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Enhanced T cell activation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 et al. 2025 — Study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828800" cy="1097280"/>
          </a:xfrm>
          <a:prstGeom prst="rect">
            <a:avLst/>
          </a:prstGeom>
          <a:solidFill>
            <a:srgbClr val="0F7C7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960120"/>
            <a:ext cx="1828800" cy="1097280"/>
          </a:xfrm>
          <a:prstGeom prst="rect">
            <a:avLst/>
          </a:prstGeom>
          <a:solidFill>
            <a:srgbClr val="1C2B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2560320" y="1005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1,232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60320" y="16276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1828800" cy="1097280"/>
          </a:xfrm>
          <a:prstGeom prst="rect">
            <a:avLst/>
          </a:prstGeom>
          <a:solidFill>
            <a:srgbClr val="0F7C7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663440" y="1005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HNSCC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16276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Type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960120"/>
            <a:ext cx="1828800" cy="1097280"/>
          </a:xfrm>
          <a:prstGeom prst="rect">
            <a:avLst/>
          </a:prstGeom>
          <a:solidFill>
            <a:srgbClr val="1C2B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766560" y="1005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ICB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16276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724912"/>
            <a:ext cx="201168" cy="201168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77240" y="27066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B-cell abundance outperforms PD-L1, TMB, T-cell and TLS signatures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201168" cy="201168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777240" y="31821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tumour-infiltrating and blood B cells are predictive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675888"/>
            <a:ext cx="201168" cy="201168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777240" y="36576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 PBMC B-cell threshold identifies non-responders with high accuracy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151376"/>
            <a:ext cx="201168" cy="201168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777240" y="41330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is independent of HPV status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0" y="2286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B-cell Measurement Approaches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2743200"/>
            <a:ext cx="1261872" cy="169164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4754880" y="2743200"/>
            <a:ext cx="1261872" cy="274320"/>
          </a:xfrm>
          <a:prstGeom prst="rect">
            <a:avLst/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4754880" y="27432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RNAseq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9744" y="3063240"/>
            <a:ext cx="11521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Deconvolution (Kassandra)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Cohorts 1–10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2743200"/>
            <a:ext cx="1261872" cy="169164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6172200" y="2743200"/>
            <a:ext cx="1261872" cy="27432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6172200" y="27432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cytometry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27064" y="3063240"/>
            <a:ext cx="11521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PBMC B-cell 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11 (our focus)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589520" y="2743200"/>
            <a:ext cx="1261872" cy="169164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5" name="Shape 33"/>
          <p:cNvSpPr/>
          <p:nvPr/>
        </p:nvSpPr>
        <p:spPr>
          <a:xfrm>
            <a:off x="7589520" y="2743200"/>
            <a:ext cx="1261872" cy="27432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7589520" y="27432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scRNAseq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44384" y="3063240"/>
            <a:ext cx="11521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Single-cell validation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9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11 — Study Population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Characteristics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371600" cy="347472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4173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Athens, Greece (NCT03652142)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1371600" cy="347472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65760" y="1847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18470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R/M HNSCC patients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76856"/>
            <a:ext cx="1371600" cy="347472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65760" y="22768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227685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Nivolumab (anti-PD-1)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06624"/>
            <a:ext cx="1371600" cy="347472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65760" y="27066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270662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Pre-treatment PBMC flow cytometry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136392"/>
            <a:ext cx="1371600" cy="347472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365760" y="31363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31363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RECIST best overall response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1371600" cy="347472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365760" y="3566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35661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(CR/PR)  |  Non-responders: 52 (SD/PD)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995928"/>
            <a:ext cx="1371600" cy="347472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365760" y="39959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TNM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28800" y="39959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patients (excluded from adjusted model)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960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TNM Stage Distribution</a:t>
            </a:r>
            <a:endParaRPr lang="en-US" sz="13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4572000" y="1371600"/>
          <a:ext cx="42062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Analysis — Scope &amp; Approach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840480"/>
          </a:xfrm>
          <a:prstGeom prst="rect">
            <a:avLst/>
          </a:prstGeom>
          <a:solidFill>
            <a:srgbClr val="F4F8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6576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reproduced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435608"/>
            <a:ext cx="146304" cy="146304"/>
          </a:xfrm>
          <a:prstGeom prst="ellipse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58368" y="14081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B-cell abundance from raw flow cytometry 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146304" cy="146304"/>
          </a:xfrm>
          <a:prstGeom prst="ellipse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58368" y="19842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Binarized RECIST response (CR/PR vs SD/PD)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587752"/>
            <a:ext cx="146304" cy="146304"/>
          </a:xfrm>
          <a:prstGeom prst="ellipse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58368" y="25603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Firth logistic regression (B-cell → response)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163824"/>
            <a:ext cx="146304" cy="146304"/>
          </a:xfrm>
          <a:prstGeom prst="ellipse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58368" y="3136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AUC of 0.73 reported in Figure 4D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739896"/>
            <a:ext cx="146304" cy="146304"/>
          </a:xfrm>
          <a:prstGeom prst="ellipse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58368" y="37124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5.5% threshold: zero responders below cutoff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960120"/>
            <a:ext cx="4114800" cy="3840480"/>
          </a:xfrm>
          <a:prstGeom prst="rect">
            <a:avLst/>
          </a:prstGeom>
          <a:solidFill>
            <a:srgbClr val="F4F8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4754880" y="960120"/>
            <a:ext cx="4114800" cy="365760"/>
          </a:xfrm>
          <a:prstGeom prst="rect">
            <a:avLst/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75488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extended (our analysis)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92040" y="1435608"/>
            <a:ext cx="146304" cy="146304"/>
          </a:xfrm>
          <a:prstGeom prst="ellipse">
            <a:avLst/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138928" y="14081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TNM stage as a confounder (not in original paper)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92040" y="2011680"/>
            <a:ext cx="146304" cy="146304"/>
          </a:xfrm>
          <a:prstGeom prst="ellipse">
            <a:avLst/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5138928" y="19842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TNM to binary: stage IV vs non-IV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2587752"/>
            <a:ext cx="146304" cy="146304"/>
          </a:xfrm>
          <a:prstGeom prst="ellipse">
            <a:avLst/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5138928" y="25603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model on n=57 (3 missing TNM excluded)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92040" y="3163824"/>
            <a:ext cx="146304" cy="146304"/>
          </a:xfrm>
          <a:prstGeom prst="ellipse">
            <a:avLst/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5138928" y="3136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AUC: univariate vs adjusted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3739896"/>
            <a:ext cx="146304" cy="146304"/>
          </a:xfrm>
          <a:prstGeom prst="ellipse">
            <a:avLst/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138928" y="37124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whether TNM confounds the B-cell effect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Methods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18872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" cy="118872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0515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B-cell Abundance Formula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399032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B-cells / (Lymphocytes + Monocytes) × 100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Expressed as % of PBMCs (Lymphogram kit)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4114800" cy="118872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411480" cy="1188720"/>
          </a:xfrm>
          <a:prstGeom prst="rect">
            <a:avLst/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274320" y="228600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3774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Firth Penalized Regression?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724912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logistic regression fails with complete separation: all 8 responders had B-cell abundance &gt;5.5%.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Firth's method adds a penalization term to stabilize estimates.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4114800" cy="118872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274320" y="3611880"/>
            <a:ext cx="411480" cy="118872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274320" y="361188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7033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Univariate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050792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best_response ~ B_cell_abundance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Firth penalized logistic regression (n=60)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960120"/>
            <a:ext cx="4114800" cy="118872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11480" cy="118872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754880" y="96012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10515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Adjusted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1399032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best_response ~ B_cell_abundance + TNM_IV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TNM stage IV vs non-IV; n=57 (3 missing TNM)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286000"/>
            <a:ext cx="4114800" cy="118872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411480" cy="118872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754880" y="228600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7800" y="23774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2724912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from ROC curve (same as original paper)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DeLong's test used for AUC comparison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114800" cy="118872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4754880" y="3611880"/>
            <a:ext cx="411480" cy="1188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4754880" y="361188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57800" y="37033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4050792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· scipy · scikit-learn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Firth regression implemented via scipy.optimize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B-cell Abundance by Response Group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914400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108960" cy="3657600"/>
          </a:xfrm>
          <a:prstGeom prst="rect">
            <a:avLst/>
          </a:prstGeom>
          <a:solidFill>
            <a:srgbClr val="F4F8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5760720" y="914400"/>
            <a:ext cx="3108960" cy="3657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5760720" y="914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Distributional Statistics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760720" y="1371600"/>
            <a:ext cx="3108960" cy="4572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5760720" y="1371600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793992" y="1371600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827264" y="1371600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Non-resp.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1856232"/>
            <a:ext cx="31089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5760720" y="1856232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793992" y="1856232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827264" y="1856232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60720" y="2340864"/>
            <a:ext cx="3108960" cy="457200"/>
          </a:xfrm>
          <a:prstGeom prst="rect">
            <a:avLst/>
          </a:prstGeom>
          <a:solidFill>
            <a:srgbClr val="EEF4F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5760720" y="2340864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793992" y="2340864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7.48%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827264" y="2340864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5.59%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760720" y="2825496"/>
            <a:ext cx="31089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8"/>
          <p:cNvSpPr/>
          <p:nvPr/>
        </p:nvSpPr>
        <p:spPr>
          <a:xfrm>
            <a:off x="5760720" y="2825496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793992" y="2825496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6.86–11.31%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827264" y="2825496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3.72–8.90%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760720" y="3310128"/>
            <a:ext cx="3108960" cy="457200"/>
          </a:xfrm>
          <a:prstGeom prst="rect">
            <a:avLst/>
          </a:prstGeom>
          <a:solidFill>
            <a:srgbClr val="EEF4F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2"/>
          <p:cNvSpPr/>
          <p:nvPr/>
        </p:nvSpPr>
        <p:spPr>
          <a:xfrm>
            <a:off x="5760720" y="3310128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793992" y="3310128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5.81–22.28%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827264" y="3310128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1.66–21.84%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760720" y="3794760"/>
            <a:ext cx="31089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6"/>
          <p:cNvSpPr/>
          <p:nvPr/>
        </p:nvSpPr>
        <p:spPr>
          <a:xfrm>
            <a:off x="5760720" y="3794760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≤5.5%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793992" y="3794760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(0%)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827264" y="3794760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(50%)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 threshold from paper (Figure 4D): zero responders fall below this cutoff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9144000" cy="8229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 — Model Performance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904894876"/>
              </p:ext>
            </p:extLst>
          </p:nvPr>
        </p:nvGraphicFramePr>
        <p:xfrm>
          <a:off x="457200" y="914400"/>
          <a:ext cx="50292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108960" cy="3657600"/>
          </a:xfrm>
          <a:prstGeom prst="rect">
            <a:avLst/>
          </a:prstGeom>
          <a:solidFill>
            <a:srgbClr val="F4F8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5760720" y="914400"/>
            <a:ext cx="3108960" cy="2743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5760720" y="914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Univariate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52160" y="115671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223760" y="116918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26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0.728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852160" y="1471397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reports: 0.730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806440" y="1627425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(B-cell %): 1.113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0.979 – 1.264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0.101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2408534"/>
            <a:ext cx="3108960" cy="268186"/>
          </a:xfrm>
          <a:prstGeom prst="rect">
            <a:avLst/>
          </a:prstGeom>
          <a:solidFill>
            <a:srgbClr val="FA7D6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5760720" y="2460109"/>
            <a:ext cx="3108960" cy="268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+ TNM Stage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52160" y="2620411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223760" y="2685705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806440" y="2915686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(B-cell %): 1.105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0.973 – 1.255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0.124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(TNM-IV): 0.648, p = 0.565</a:t>
            </a:r>
            <a:endParaRPr lang="en-US" sz="10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B13D1A81-B748-DCD7-0E39-5E8C6AE3156D}"/>
              </a:ext>
            </a:extLst>
          </p:cNvPr>
          <p:cNvSpPr/>
          <p:nvPr/>
        </p:nvSpPr>
        <p:spPr>
          <a:xfrm>
            <a:off x="5760720" y="3830191"/>
            <a:ext cx="3108960" cy="2681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B5230DF4-4AFC-5B5D-C57A-D0298A592D07}"/>
              </a:ext>
            </a:extLst>
          </p:cNvPr>
          <p:cNvSpPr/>
          <p:nvPr/>
        </p:nvSpPr>
        <p:spPr>
          <a:xfrm>
            <a:off x="5852160" y="3866513"/>
            <a:ext cx="3108960" cy="268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Univariate with T-Cell Abundance</a:t>
            </a:r>
            <a:endParaRPr lang="en-US" sz="110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CBFB1026-9FA2-E7A8-3A57-1F1A5F2141A8}"/>
              </a:ext>
            </a:extLst>
          </p:cNvPr>
          <p:cNvSpPr/>
          <p:nvPr/>
        </p:nvSpPr>
        <p:spPr>
          <a:xfrm>
            <a:off x="5852160" y="40762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336DAAAC-3507-5787-5685-60E92C29D790}"/>
              </a:ext>
            </a:extLst>
          </p:cNvPr>
          <p:cNvSpPr/>
          <p:nvPr/>
        </p:nvSpPr>
        <p:spPr>
          <a:xfrm>
            <a:off x="7234702" y="409426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0.577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Result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91440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108960" cy="1645920"/>
          </a:xfrm>
          <a:prstGeom prst="rect">
            <a:avLst/>
          </a:prstGeom>
          <a:solidFill>
            <a:srgbClr val="E8F5E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5760720" y="914400"/>
            <a:ext cx="3108960" cy="36576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5760720" y="914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✓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52160" y="13716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AUC (0.728) vs paper AUC (0.730)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Difference: −0.002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rounding of reported value.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760720" y="2651760"/>
            <a:ext cx="3108960" cy="173736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5760720" y="2651760"/>
            <a:ext cx="3108960" cy="365760"/>
          </a:xfrm>
          <a:prstGeom prst="rect">
            <a:avLst/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576072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Findings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52160" y="310896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TNM stage is not a significant confounder (p=0.565). Adding it reduces AUC by 0.026. B-cell effect direction maintained.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F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 threshold: verified — 0 responders fell below this cutoff in Cohort 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the Original Study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18872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09728" cy="1188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75488" y="10515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Cohort 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39903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 responders out of 60 patients. Severely underpowered for multivariate analysis. All results should be considered exploratory.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286000"/>
            <a:ext cx="4114800" cy="118872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109728" cy="118872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75488" y="237744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Multivariate Analysis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72491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does not adjust for TNM stage, performance status, or prior therapy in the ICB response analysis. Confounding cannot be excluded.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611880"/>
            <a:ext cx="4114800" cy="118872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274320" y="3611880"/>
            <a:ext cx="109728" cy="1188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75488" y="37033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Separation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405079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odds ratio for the 5.5% threshold is reported as 'infinity' — a statistical artifact indicating near-perfect separation, not a reliable clinical estimate.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960120"/>
            <a:ext cx="4114800" cy="118872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754880" y="960120"/>
            <a:ext cx="109728" cy="1188720"/>
          </a:xfrm>
          <a:prstGeom prst="rect">
            <a:avLst/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956048" y="10515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Threshold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56048" y="139903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5.5% cutoff was derived from Cohort 7 (a different setting) and applied to Cohort 11. No internal validation was performed.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114800" cy="118872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4754880" y="2286000"/>
            <a:ext cx="109728" cy="118872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956048" y="237744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Cohorts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56048" y="272491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cohorts with varying assay platforms, treatment lines, and HNSCC subsites are pooled. Batch effects and biological heterogeneity are not fully addressed.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4114800" cy="1188720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754880" y="3611880"/>
            <a:ext cx="109728" cy="118872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956048" y="37033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Design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56048" y="405079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cohorts are retrospective or post-hoc analyses. Prospective validation of the 5.5% threshold is required before clinical use.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— Challenges Encountered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640080" cy="3657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0120" y="960120"/>
            <a:ext cx="2286000" cy="3657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960120" y="960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926080" cy="3657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291840" y="960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960120"/>
            <a:ext cx="1097280" cy="3657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263640" y="960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417320"/>
            <a:ext cx="640080" cy="594360"/>
          </a:xfrm>
          <a:prstGeom prst="rect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960120" y="1417320"/>
            <a:ext cx="2286000" cy="594360"/>
          </a:xfrm>
          <a:prstGeom prst="rect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3291840" y="1417320"/>
            <a:ext cx="2926080" cy="594360"/>
          </a:xfrm>
          <a:prstGeom prst="rect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6263640" y="1417320"/>
            <a:ext cx="1097280" cy="594360"/>
          </a:xfrm>
          <a:prstGeom prst="rect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274320" y="14173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14173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B-cell abundance not pre-computed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37560" y="141732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raw counts: B / (Lymph + Mono) × 100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63640" y="1572768"/>
            <a:ext cx="1097280" cy="27432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263640" y="1572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075688"/>
            <a:ext cx="6400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960120" y="2075688"/>
            <a:ext cx="228600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3291840" y="2075688"/>
            <a:ext cx="29260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6263640" y="2075688"/>
            <a:ext cx="10972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274320" y="207568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05840" y="207568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logistic regression fails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37560" y="2075688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Firth penalized regression required due to complete separation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63640" y="2231136"/>
            <a:ext cx="1097280" cy="27432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6263640" y="22311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734056"/>
            <a:ext cx="640080" cy="594360"/>
          </a:xfrm>
          <a:prstGeom prst="rect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960120" y="2734056"/>
            <a:ext cx="2286000" cy="594360"/>
          </a:xfrm>
          <a:prstGeom prst="rect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3291840" y="2734056"/>
            <a:ext cx="2926080" cy="594360"/>
          </a:xfrm>
          <a:prstGeom prst="rect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6263640" y="2734056"/>
            <a:ext cx="1097280" cy="594360"/>
          </a:xfrm>
          <a:prstGeom prst="rect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274320" y="2734056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05840" y="2734056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TNM adjustment not in original paper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37560" y="2734056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as extension analysis, not direct replication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63640" y="2889504"/>
            <a:ext cx="1097280" cy="27432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6263640" y="28895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3392424"/>
            <a:ext cx="6400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0" name="Shape 38"/>
          <p:cNvSpPr/>
          <p:nvPr/>
        </p:nvSpPr>
        <p:spPr>
          <a:xfrm>
            <a:off x="960120" y="3392424"/>
            <a:ext cx="228600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1" name="Shape 39"/>
          <p:cNvSpPr/>
          <p:nvPr/>
        </p:nvSpPr>
        <p:spPr>
          <a:xfrm>
            <a:off x="3291840" y="3392424"/>
            <a:ext cx="29260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2" name="Shape 40"/>
          <p:cNvSpPr/>
          <p:nvPr/>
        </p:nvSpPr>
        <p:spPr>
          <a:xfrm>
            <a:off x="6263640" y="3392424"/>
            <a:ext cx="10972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/>
          <p:nvPr/>
        </p:nvSpPr>
        <p:spPr>
          <a:xfrm>
            <a:off x="274320" y="339242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05840" y="3392424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n=8 responders — very low power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337560" y="3392424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interpreted as exploratory; wide CIs expected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63640" y="3547872"/>
            <a:ext cx="109728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6263640" y="3547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4050792"/>
            <a:ext cx="640080" cy="594360"/>
          </a:xfrm>
          <a:prstGeom prst="rect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9" name="Shape 47"/>
          <p:cNvSpPr/>
          <p:nvPr/>
        </p:nvSpPr>
        <p:spPr>
          <a:xfrm>
            <a:off x="960120" y="4050792"/>
            <a:ext cx="2286000" cy="594360"/>
          </a:xfrm>
          <a:prstGeom prst="rect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0" name="Shape 48"/>
          <p:cNvSpPr/>
          <p:nvPr/>
        </p:nvSpPr>
        <p:spPr>
          <a:xfrm>
            <a:off x="3291840" y="4050792"/>
            <a:ext cx="2926080" cy="594360"/>
          </a:xfrm>
          <a:prstGeom prst="rect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1" name="Shape 49"/>
          <p:cNvSpPr/>
          <p:nvPr/>
        </p:nvSpPr>
        <p:spPr>
          <a:xfrm>
            <a:off x="6263640" y="4050792"/>
            <a:ext cx="1097280" cy="594360"/>
          </a:xfrm>
          <a:prstGeom prst="rect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2" name="Text 50"/>
          <p:cNvSpPr/>
          <p:nvPr/>
        </p:nvSpPr>
        <p:spPr>
          <a:xfrm>
            <a:off x="274320" y="405079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05840" y="405079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code on GitHub (Python)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337560" y="4050792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implemented independently in Python as validation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263640" y="4206240"/>
            <a:ext cx="1097280" cy="27432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6" name="Text 54"/>
          <p:cNvSpPr/>
          <p:nvPr/>
        </p:nvSpPr>
        <p:spPr>
          <a:xfrm>
            <a:off x="6263640" y="4206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Implications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691640"/>
          </a:xfrm>
          <a:prstGeom prst="rect">
            <a:avLst/>
          </a:prstGeom>
          <a:solidFill>
            <a:srgbClr val="F4F8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Non-invasive Biomarker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PBMC flow cytometry is routinely performed in clinical settings. A blood-based B-cell test would be accessible without tumour biopsy.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926080"/>
            <a:ext cx="4114800" cy="1691640"/>
          </a:xfrm>
          <a:prstGeom prst="rect">
            <a:avLst/>
          </a:prstGeom>
          <a:solidFill>
            <a:srgbClr val="F4F8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274320" y="2926080"/>
            <a:ext cx="4114800" cy="365760"/>
          </a:xfrm>
          <a:prstGeom prst="rect">
            <a:avLst/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Decision Threshold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38328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5.5% cutoff is binary and easy to apply. All non-responders in Cohort 11 who fell below it could theoretically be spared ineffective treatment.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114800" cy="1691640"/>
          </a:xfrm>
          <a:prstGeom prst="rect">
            <a:avLst/>
          </a:prstGeom>
          <a:solidFill>
            <a:srgbClr val="F4F8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84632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Existing Markers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46304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B-cell abundance outperformed PD-L1, TMB, and T-cell signatures — the most commonly used clinical biomarkers — in this dataset.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114800" cy="1691640"/>
          </a:xfrm>
          <a:prstGeom prst="rect">
            <a:avLst/>
          </a:prstGeom>
          <a:solidFill>
            <a:srgbClr val="F4F8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4114800" cy="3657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84632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Warranted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38328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based on n=8 responders. Prospective validation in larger cohorts is essential before any clinical adoption.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914400"/>
          </a:xfrm>
          <a:prstGeom prst="rect">
            <a:avLst/>
          </a:prstGeom>
          <a:solidFill>
            <a:srgbClr val="F4F8F9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09728" cy="91440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reproduction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result (AUC 0.73 for PBMC B-cell abundance) reproduced faithfully. This supports the analytic integrity of the original study and confirms our understanding of the B-cell abundance formula.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109728" cy="91440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TNM stage is not a confounder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TNM stage as a covariate did not materially change the B-cell coefficient, and the AUC slightly decreased (0.728 → 0.702). This suggests B-cell abundance captures independent prognostic information.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8595360" cy="914400"/>
          </a:xfrm>
          <a:prstGeom prst="rect">
            <a:avLst/>
          </a:prstGeom>
          <a:solidFill>
            <a:srgbClr val="F4F8F9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109728" cy="91440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0292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concerns remain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8 responders, all confidence intervals are wide and results are underpowered. The 'infinite' odds ratio at the 5.5% threshold is a statistical artefact. Firth regression mitigates but does not eliminate this issue.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977640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274320" y="3977640"/>
            <a:ext cx="109728" cy="91440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50292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 is plausible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3159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association between B cells and ICB response has prior support from TLS biology and multi-cancer studies. The mechanistic rationale is strong even if the clinical evidence from Cohort 11 alone is limited.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170432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384048" y="1316736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3266A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84048" y="1316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10789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validation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144475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prospective trial with pre-specified B-cell threshold and sufficient power (n&gt;100 responders) is needed.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304288"/>
            <a:ext cx="4114800" cy="1170432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84048" y="2615184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84048" y="2615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2377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modelling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" y="274320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for ECOG PS, prior lines of therapy, HPV status, and tumour site in a larger dataset.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602736"/>
            <a:ext cx="4114800" cy="1170432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384048" y="3913632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384048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6112" y="36758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PD-L1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6112" y="404164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B-cell abundance adds predictive value on top of PD-L1 CPS in a prospective cohort.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114800" cy="1170432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4864608" y="1316736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E8A0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864608" y="1316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76672" y="10789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monitoring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76672" y="144475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whether B-cell dynamics (on-treatment changes) correlate with response better than pre-treatment levels.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304288"/>
            <a:ext cx="4114800" cy="1170432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864608" y="2615184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A7A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864608" y="2615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76672" y="2377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Mechanistic studies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76672" y="274320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the relationship between blood B cells, tumour-infiltrating B cells, and TLS formation in HNSCC.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02736"/>
            <a:ext cx="4114800" cy="1170432"/>
          </a:xfrm>
          <a:prstGeom prst="rect">
            <a:avLst/>
          </a:prstGeom>
          <a:solidFill>
            <a:srgbClr val="F4F8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4864608" y="3913632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4864608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76672" y="36758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assay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76672" y="404164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validated, standardised flow cytometry panel for clinical B-cell % measurement would facilitate multi-centre studies.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" y="10972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B-cell abundance in PBMCs predicts ICB response in HNSCC — a clinically accessible, non-invasive biomarker.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457200" cy="45720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84708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finding (AUC 0.73) was successfully reproduced using independently implemented Firth penalized logistic regression.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596896"/>
            <a:ext cx="457200" cy="45720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4864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2596896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TNM stage is not a significant confounder in Cohort 11. B-cell abundance captures independent predictive information.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46704"/>
            <a:ext cx="457200" cy="45720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4864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3346704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challenges (complete separation, n=8 responders) require careful methodology and cautious interpretation.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96512"/>
            <a:ext cx="457200" cy="45720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4864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409651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5.5% PBMC B-cell threshold is a promising but not yet clinically validated decision tool — prospective trials are needed.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73152" cy="32004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 et al. (2025). Tumor and blood B-cell abundance outperforms established immune checkpoint blockade response prediction signatures in head and neck cancer. Annals of Oncology. DOI: 10.1016/j.annonc.2024.09.014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527048"/>
            <a:ext cx="73152" cy="32004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57200" y="152704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Burtness et al. (2019). Pembrolizumab alone or with chemotherapy versus cetuximab with chemotherapy for recurrent or metastatic squamous cell carcinoma of the head and neck (KEYNOTE-048). Lancet, 394(10212), 1915–1928.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2093976"/>
            <a:ext cx="73152" cy="32004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57200" y="2093976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Cabrita et al. (2020). Tertiary lymphoid structures improve immunotherapy and survival in melanoma. Nature, 577, 561–565.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660904"/>
            <a:ext cx="73152" cy="32004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57200" y="2660904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Helmink et al. (2020). B cells and tertiary lymphoid structures promote immunotherapy response. Nature, 577, 549–555.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227832"/>
            <a:ext cx="73152" cy="32004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57200" y="32278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Firth (1993). Bias reduction of maximum likelihood estimates. Biometrika, 80(1), 27–38. [Firth regression method]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794760"/>
            <a:ext cx="73152" cy="32004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57200" y="37947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DeLong et al. (1988). Comparing the areas under two or more correlated receiver operating characteristic curves. Biometrics, 44(3), 837–845.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4361688"/>
            <a:ext cx="73152" cy="32004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57200" y="43616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code: Zenodo DOI 10.5281/zenodo.14181890  ·  GitHub: github.com/rootchang/HNSCC_Bcells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0F7C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0" y="2514600"/>
            <a:ext cx="2743200" cy="36576"/>
          </a:xfrm>
          <a:prstGeom prst="rect">
            <a:avLst/>
          </a:prstGeom>
          <a:solidFill>
            <a:srgbClr val="1AA8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Zenodo 10.5281/zenodo.14181890  ·  Code: github.com/rootchang/HNSCC_Bcells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 et al. (2025), Annals of Oncology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1987</Words>
  <Application>Microsoft Macintosh PowerPoint</Application>
  <PresentationFormat>Bildschirmpräsentation (16:9)</PresentationFormat>
  <Paragraphs>325</Paragraphs>
  <Slides>20</Slides>
  <Notes>20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B-cell Abundance as ICB Response Predictor in HNSCC</dc:title>
  <dc:subject>PptxGenJS Presentation</dc:subject>
  <dc:creator>PptxGenJS</dc:creator>
  <cp:lastModifiedBy>Marie Wyrsch</cp:lastModifiedBy>
  <cp:revision>2</cp:revision>
  <dcterms:created xsi:type="dcterms:W3CDTF">2026-05-02T06:15:09Z</dcterms:created>
  <dcterms:modified xsi:type="dcterms:W3CDTF">2026-05-02T07:59:08Z</dcterms:modified>
</cp:coreProperties>
</file>